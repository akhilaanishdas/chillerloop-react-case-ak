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B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09359" y="164592"/>
            <a:ext cx="2560322" cy="829544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347979" y="346709"/>
            <a:ext cx="1280161" cy="1280161"/>
          </a:xfrm>
          <a:prstGeom prst="ellipse">
            <a:avLst/>
          </a:prstGeom>
          <a:solidFill>
            <a:srgbClr val="9E2A4A">
              <a:alpha val="70000"/>
            </a:srgbClr>
          </a:solidFill>
          <a:ln w="254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1"/>
          <p:cNvSpPr txBox="1"/>
          <p:nvPr/>
        </p:nvSpPr>
        <p:spPr>
          <a:xfrm>
            <a:off x="487680" y="652017"/>
            <a:ext cx="100584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💧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1737360" y="525780"/>
            <a:ext cx="457200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ChillerLoop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1737360" y="1275079"/>
            <a:ext cx="50292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F4C2CF"/>
                </a:solidFill>
              </a:defRPr>
            </a:lvl1pPr>
          </a:lstStyle>
          <a:p>
            <a:pPr/>
            <a:r>
              <a:t>Underground Cooling Intelligence  🌊</a:t>
            </a:r>
          </a:p>
        </p:txBody>
      </p:sp>
      <p:sp>
        <p:nvSpPr>
          <p:cNvPr id="25" name="Shape 4"/>
          <p:cNvSpPr/>
          <p:nvPr/>
        </p:nvSpPr>
        <p:spPr>
          <a:xfrm>
            <a:off x="457200" y="1783079"/>
            <a:ext cx="8229600" cy="1"/>
          </a:xfrm>
          <a:prstGeom prst="line">
            <a:avLst/>
          </a:prstGeom>
          <a:ln w="1905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5"/>
          <p:cNvSpPr txBox="1"/>
          <p:nvPr/>
        </p:nvSpPr>
        <p:spPr>
          <a:xfrm>
            <a:off x="457200" y="2029459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👩🏻‍💻 Student: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2148839" y="2099880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Akhila Anish Das</a:t>
            </a:r>
          </a:p>
        </p:txBody>
      </p:sp>
      <p:sp>
        <p:nvSpPr>
          <p:cNvPr id="28" name="Text 7"/>
          <p:cNvSpPr txBox="1"/>
          <p:nvPr/>
        </p:nvSpPr>
        <p:spPr>
          <a:xfrm>
            <a:off x="457200" y="2504947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🎓 Roll No:</a:t>
            </a:r>
          </a:p>
        </p:txBody>
      </p:sp>
      <p:sp>
        <p:nvSpPr>
          <p:cNvPr id="29" name="Text 8"/>
          <p:cNvSpPr txBox="1"/>
          <p:nvPr/>
        </p:nvSpPr>
        <p:spPr>
          <a:xfrm>
            <a:off x="2148839" y="2591615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150096725016</a:t>
            </a:r>
          </a:p>
        </p:txBody>
      </p:sp>
      <p:sp>
        <p:nvSpPr>
          <p:cNvPr id="30" name="Text 9"/>
          <p:cNvSpPr txBox="1"/>
          <p:nvPr/>
        </p:nvSpPr>
        <p:spPr>
          <a:xfrm>
            <a:off x="457200" y="2980435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🏛️ Cohort:</a:t>
            </a:r>
          </a:p>
        </p:txBody>
      </p:sp>
      <p:sp>
        <p:nvSpPr>
          <p:cNvPr id="31" name="Text 10"/>
          <p:cNvSpPr txBox="1"/>
          <p:nvPr/>
        </p:nvSpPr>
        <p:spPr>
          <a:xfrm>
            <a:off x="2148839" y="3067103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Larry Page</a:t>
            </a:r>
          </a:p>
        </p:txBody>
      </p:sp>
      <p:sp>
        <p:nvSpPr>
          <p:cNvPr id="32" name="Text 11"/>
          <p:cNvSpPr txBox="1"/>
          <p:nvPr/>
        </p:nvSpPr>
        <p:spPr>
          <a:xfrm>
            <a:off x="457200" y="3455923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📚 Semester:</a:t>
            </a:r>
          </a:p>
        </p:txBody>
      </p:sp>
      <p:sp>
        <p:nvSpPr>
          <p:cNvPr id="33" name="Text 12"/>
          <p:cNvSpPr txBox="1"/>
          <p:nvPr/>
        </p:nvSpPr>
        <p:spPr>
          <a:xfrm>
            <a:off x="2148839" y="3542591"/>
            <a:ext cx="22860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2 · Sprint 2</a:t>
            </a:r>
          </a:p>
        </p:txBody>
      </p:sp>
      <p:sp>
        <p:nvSpPr>
          <p:cNvPr id="34" name="Text 13"/>
          <p:cNvSpPr txBox="1"/>
          <p:nvPr/>
        </p:nvSpPr>
        <p:spPr>
          <a:xfrm>
            <a:off x="4572000" y="2029459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🎯 Subject:</a:t>
            </a:r>
          </a:p>
        </p:txBody>
      </p:sp>
      <p:sp>
        <p:nvSpPr>
          <p:cNvPr id="35" name="Text 14"/>
          <p:cNvSpPr txBox="1"/>
          <p:nvPr/>
        </p:nvSpPr>
        <p:spPr>
          <a:xfrm>
            <a:off x="6263640" y="2154227"/>
            <a:ext cx="2651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React JS</a:t>
            </a:r>
          </a:p>
        </p:txBody>
      </p:sp>
      <p:sp>
        <p:nvSpPr>
          <p:cNvPr id="36" name="Text 15"/>
          <p:cNvSpPr txBox="1"/>
          <p:nvPr/>
        </p:nvSpPr>
        <p:spPr>
          <a:xfrm>
            <a:off x="4572000" y="2504947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📁 Case Study:</a:t>
            </a:r>
          </a:p>
        </p:txBody>
      </p:sp>
      <p:sp>
        <p:nvSpPr>
          <p:cNvPr id="37" name="Text 16"/>
          <p:cNvSpPr txBox="1"/>
          <p:nvPr/>
        </p:nvSpPr>
        <p:spPr>
          <a:xfrm>
            <a:off x="6263640" y="2617015"/>
            <a:ext cx="2651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#46 — ChillerLoop</a:t>
            </a:r>
          </a:p>
        </p:txBody>
      </p:sp>
      <p:sp>
        <p:nvSpPr>
          <p:cNvPr id="38" name="Text 17"/>
          <p:cNvSpPr txBox="1"/>
          <p:nvPr/>
        </p:nvSpPr>
        <p:spPr>
          <a:xfrm>
            <a:off x="4572000" y="2980435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🔗 GitHub:</a:t>
            </a:r>
          </a:p>
        </p:txBody>
      </p:sp>
      <p:sp>
        <p:nvSpPr>
          <p:cNvPr id="39" name="Text 18"/>
          <p:cNvSpPr txBox="1"/>
          <p:nvPr/>
        </p:nvSpPr>
        <p:spPr>
          <a:xfrm>
            <a:off x="5869940" y="3092503"/>
            <a:ext cx="325981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https://github.com/AkhilaAnishDas/chillerloop.git</a:t>
            </a:r>
          </a:p>
        </p:txBody>
      </p:sp>
      <p:sp>
        <p:nvSpPr>
          <p:cNvPr id="40" name="Text 19"/>
          <p:cNvSpPr txBox="1"/>
          <p:nvPr/>
        </p:nvSpPr>
        <p:spPr>
          <a:xfrm>
            <a:off x="4572000" y="3455923"/>
            <a:ext cx="173736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4C2CF"/>
                </a:solidFill>
              </a:defRPr>
            </a:lvl1pPr>
          </a:lstStyle>
          <a:p>
            <a:pPr/>
            <a:r>
              <a:t>🏫 Program:</a:t>
            </a:r>
          </a:p>
        </p:txBody>
      </p:sp>
      <p:sp>
        <p:nvSpPr>
          <p:cNvPr id="41" name="Text 20"/>
          <p:cNvSpPr txBox="1"/>
          <p:nvPr/>
        </p:nvSpPr>
        <p:spPr>
          <a:xfrm>
            <a:off x="6263640" y="3542591"/>
            <a:ext cx="265176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B.Tech FY CSE (2025–2029)</a:t>
            </a:r>
          </a:p>
        </p:txBody>
      </p:sp>
      <p:sp>
        <p:nvSpPr>
          <p:cNvPr id="42" name="Shape 21"/>
          <p:cNvSpPr/>
          <p:nvPr/>
        </p:nvSpPr>
        <p:spPr>
          <a:xfrm>
            <a:off x="457200" y="4663440"/>
            <a:ext cx="8229600" cy="1"/>
          </a:xfrm>
          <a:prstGeom prst="line">
            <a:avLst/>
          </a:prstGeom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22"/>
          <p:cNvSpPr txBox="1"/>
          <p:nvPr/>
        </p:nvSpPr>
        <p:spPr>
          <a:xfrm>
            <a:off x="457200" y="4828539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ITM Skills University  ·  B.Tech FY CSE  ·  2025–2029  ·  © ChillerLoop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1C3E"/>
          </a:solidFill>
          <a:ln w="12700">
            <a:solidFill>
              <a:srgbClr val="7B1C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"/>
          <p:cNvSpPr txBox="1"/>
          <p:nvPr/>
        </p:nvSpPr>
        <p:spPr>
          <a:xfrm>
            <a:off x="365759" y="232409"/>
            <a:ext cx="841248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🏙️  Problem Statement</a:t>
            </a:r>
          </a:p>
        </p:txBody>
      </p:sp>
      <p:sp>
        <p:nvSpPr>
          <p:cNvPr id="47" name="Text 2"/>
          <p:cNvSpPr txBox="1"/>
          <p:nvPr/>
        </p:nvSpPr>
        <p:spPr>
          <a:xfrm>
            <a:off x="502919" y="1135311"/>
            <a:ext cx="8138161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2D0A17"/>
                </a:solidFill>
              </a:defRPr>
            </a:lvl1pPr>
          </a:lstStyle>
          <a:p>
            <a:pPr/>
            <a:r>
              <a:t>Navi Mumbai, a planned smart city in Maharashtra, operates large underground district cooling systems (UGCS) to cool its commercial buildings, hospitals, and data centers. Monitoring this infrastructure is complex, fragmented, and manual.</a:t>
            </a:r>
          </a:p>
        </p:txBody>
      </p:sp>
      <p:sp>
        <p:nvSpPr>
          <p:cNvPr id="48" name="Shape 3"/>
          <p:cNvSpPr/>
          <p:nvPr/>
        </p:nvSpPr>
        <p:spPr>
          <a:xfrm>
            <a:off x="365759" y="1938527"/>
            <a:ext cx="4114801" cy="120701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4C2CF"/>
            </a:solidFill>
          </a:ln>
          <a:effectLst>
            <a:outerShdw sx="100000" sy="100000" kx="0" ky="0" algn="b" rotWithShape="0" blurRad="101600" dist="381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Text 4"/>
          <p:cNvSpPr txBox="1"/>
          <p:nvPr/>
        </p:nvSpPr>
        <p:spPr>
          <a:xfrm>
            <a:off x="502920" y="2038349"/>
            <a:ext cx="38404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7B1C3E"/>
                </a:solidFill>
              </a:defRPr>
            </a:lvl1pPr>
          </a:lstStyle>
          <a:p>
            <a:pPr/>
            <a:r>
              <a:t>🌡️ No Real-Time Monitoring</a:t>
            </a:r>
          </a:p>
        </p:txBody>
      </p:sp>
      <p:sp>
        <p:nvSpPr>
          <p:cNvPr id="50" name="Text 5"/>
          <p:cNvSpPr txBox="1"/>
          <p:nvPr/>
        </p:nvSpPr>
        <p:spPr>
          <a:xfrm>
            <a:off x="502920" y="2528106"/>
            <a:ext cx="38404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Engineers lack live visibility into water flow speeds, pipe temperatures, and compressor pressure across 18.9 km of underground network.</a:t>
            </a:r>
          </a:p>
        </p:txBody>
      </p:sp>
      <p:sp>
        <p:nvSpPr>
          <p:cNvPr id="51" name="Shape 6"/>
          <p:cNvSpPr/>
          <p:nvPr/>
        </p:nvSpPr>
        <p:spPr>
          <a:xfrm>
            <a:off x="4754879" y="1938527"/>
            <a:ext cx="4114801" cy="120701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4C2CF"/>
            </a:solidFill>
          </a:ln>
          <a:effectLst>
            <a:outerShdw sx="100000" sy="100000" kx="0" ky="0" algn="b" rotWithShape="0" blurRad="101600" dist="381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Text 7"/>
          <p:cNvSpPr txBox="1"/>
          <p:nvPr/>
        </p:nvSpPr>
        <p:spPr>
          <a:xfrm>
            <a:off x="4892040" y="2038349"/>
            <a:ext cx="38404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7B1C3E"/>
                </a:solidFill>
              </a:defRPr>
            </a:lvl1pPr>
          </a:lstStyle>
          <a:p>
            <a:pPr/>
            <a:r>
              <a:t>⚠️ Unsafe Override Processes</a:t>
            </a:r>
          </a:p>
        </p:txBody>
      </p:sp>
      <p:sp>
        <p:nvSpPr>
          <p:cNvPr id="53" name="Text 8"/>
          <p:cNvSpPr txBox="1"/>
          <p:nvPr/>
        </p:nvSpPr>
        <p:spPr>
          <a:xfrm>
            <a:off x="4892040" y="2528106"/>
            <a:ext cx="384048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Manual pressure adjustments on compressors are error-prone and irreversible — with no undo mechanism or safety confirmation step.</a:t>
            </a:r>
          </a:p>
        </p:txBody>
      </p:sp>
      <p:sp>
        <p:nvSpPr>
          <p:cNvPr id="54" name="Shape 9"/>
          <p:cNvSpPr/>
          <p:nvPr/>
        </p:nvSpPr>
        <p:spPr>
          <a:xfrm>
            <a:off x="365759" y="3264408"/>
            <a:ext cx="4114801" cy="1207009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4C2CF"/>
            </a:solidFill>
          </a:ln>
          <a:effectLst>
            <a:outerShdw sx="100000" sy="100000" kx="0" ky="0" algn="b" rotWithShape="0" blurRad="101600" dist="381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Text 10"/>
          <p:cNvSpPr txBox="1"/>
          <p:nvPr/>
        </p:nvSpPr>
        <p:spPr>
          <a:xfrm>
            <a:off x="502920" y="3364229"/>
            <a:ext cx="38404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7B1C3E"/>
                </a:solidFill>
              </a:defRPr>
            </a:lvl1pPr>
          </a:lstStyle>
          <a:p>
            <a:pPr/>
            <a:r>
              <a:t>🚨 Unstructured Emergency Handling</a:t>
            </a:r>
          </a:p>
        </p:txBody>
      </p:sp>
      <p:sp>
        <p:nvSpPr>
          <p:cNvPr id="56" name="Text 11"/>
          <p:cNvSpPr txBox="1"/>
          <p:nvPr/>
        </p:nvSpPr>
        <p:spPr>
          <a:xfrm>
            <a:off x="502920" y="3853986"/>
            <a:ext cx="38404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Critical restart requests from hospitals, data centers, and residential zones are handled ad-hoc — without priority-based queuing.</a:t>
            </a:r>
          </a:p>
        </p:txBody>
      </p:sp>
      <p:sp>
        <p:nvSpPr>
          <p:cNvPr id="57" name="Shape 12"/>
          <p:cNvSpPr/>
          <p:nvPr/>
        </p:nvSpPr>
        <p:spPr>
          <a:xfrm>
            <a:off x="4754879" y="3264408"/>
            <a:ext cx="4114801" cy="1207009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4C2CF"/>
            </a:solidFill>
          </a:ln>
          <a:effectLst>
            <a:outerShdw sx="100000" sy="100000" kx="0" ky="0" algn="b" rotWithShape="0" blurRad="101600" dist="381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Text 13"/>
          <p:cNvSpPr txBox="1"/>
          <p:nvPr/>
        </p:nvSpPr>
        <p:spPr>
          <a:xfrm>
            <a:off x="4892040" y="3364229"/>
            <a:ext cx="38404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7B1C3E"/>
                </a:solidFill>
              </a:defRPr>
            </a:lvl1pPr>
          </a:lstStyle>
          <a:p>
            <a:pPr/>
            <a:r>
              <a:t>🔌 Inefficient Energy Distribution</a:t>
            </a:r>
          </a:p>
        </p:txBody>
      </p:sp>
      <p:sp>
        <p:nvSpPr>
          <p:cNvPr id="59" name="Text 14"/>
          <p:cNvSpPr txBox="1"/>
          <p:nvPr/>
        </p:nvSpPr>
        <p:spPr>
          <a:xfrm>
            <a:off x="4892040" y="3853986"/>
            <a:ext cx="384048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Fan electricity loads and pump routing are not optimized, leading to overloads, wasteful energy usage, and under-cooled zones.</a:t>
            </a:r>
          </a:p>
        </p:txBody>
      </p:sp>
      <p:sp>
        <p:nvSpPr>
          <p:cNvPr id="60" name="Shape 15"/>
          <p:cNvSpPr/>
          <p:nvPr/>
        </p:nvSpPr>
        <p:spPr>
          <a:xfrm>
            <a:off x="457200" y="4828032"/>
            <a:ext cx="8229600" cy="1"/>
          </a:xfrm>
          <a:prstGeom prst="line">
            <a:avLst/>
          </a:prstGeom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16"/>
          <p:cNvSpPr txBox="1"/>
          <p:nvPr/>
        </p:nvSpPr>
        <p:spPr>
          <a:xfrm>
            <a:off x="457200" y="4901692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A1F32"/>
                </a:solidFill>
              </a:defRPr>
            </a:lvl1pPr>
          </a:lstStyle>
          <a:p>
            <a:pPr/>
            <a:r>
              <a:t>ChillerLoop  ·  Case Study #46  ·  React JS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B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365759" y="278130"/>
            <a:ext cx="841248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✨  Our Solution — ChillerLoop</a:t>
            </a:r>
          </a:p>
        </p:txBody>
      </p:sp>
      <p:sp>
        <p:nvSpPr>
          <p:cNvPr id="64" name="Shape 1"/>
          <p:cNvSpPr/>
          <p:nvPr/>
        </p:nvSpPr>
        <p:spPr>
          <a:xfrm>
            <a:off x="365759" y="868680"/>
            <a:ext cx="8412482" cy="1"/>
          </a:xfrm>
          <a:prstGeom prst="line">
            <a:avLst/>
          </a:prstGeom>
          <a:ln w="1905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2"/>
          <p:cNvSpPr txBox="1"/>
          <p:nvPr/>
        </p:nvSpPr>
        <p:spPr>
          <a:xfrm>
            <a:off x="411479" y="980878"/>
            <a:ext cx="832104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F4C2CF"/>
                </a:solidFill>
              </a:defRPr>
            </a:lvl1pPr>
          </a:lstStyle>
          <a:p>
            <a:pPr/>
            <a:r>
              <a:t>A full-featured React dashboard for city-scale underground cooling systems (UGCS), built with real Navi Mumbai infrastructure data.</a:t>
            </a:r>
          </a:p>
        </p:txBody>
      </p:sp>
      <p:sp>
        <p:nvSpPr>
          <p:cNvPr id="66" name="Shape 3"/>
          <p:cNvSpPr/>
          <p:nvPr/>
        </p:nvSpPr>
        <p:spPr>
          <a:xfrm>
            <a:off x="320040" y="1572767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4"/>
          <p:cNvSpPr txBox="1"/>
          <p:nvPr/>
        </p:nvSpPr>
        <p:spPr>
          <a:xfrm>
            <a:off x="429767" y="1619504"/>
            <a:ext cx="39319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💧  Flow Speed Tracker</a:t>
            </a:r>
          </a:p>
        </p:txBody>
      </p:sp>
      <p:sp>
        <p:nvSpPr>
          <p:cNvPr id="68" name="Text 5"/>
          <p:cNvSpPr txBox="1"/>
          <p:nvPr/>
        </p:nvSpPr>
        <p:spPr>
          <a:xfrm>
            <a:off x="429767" y="1989327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Real-time velocity gauges for cold water movement through pipes</a:t>
            </a:r>
          </a:p>
        </p:txBody>
      </p:sp>
      <p:sp>
        <p:nvSpPr>
          <p:cNvPr id="69" name="Shape 6"/>
          <p:cNvSpPr/>
          <p:nvPr/>
        </p:nvSpPr>
        <p:spPr>
          <a:xfrm>
            <a:off x="4727447" y="1572767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7"/>
          <p:cNvSpPr txBox="1"/>
          <p:nvPr/>
        </p:nvSpPr>
        <p:spPr>
          <a:xfrm>
            <a:off x="4837176" y="1619504"/>
            <a:ext cx="39319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🔧  Compressor Override</a:t>
            </a:r>
          </a:p>
        </p:txBody>
      </p:sp>
      <p:sp>
        <p:nvSpPr>
          <p:cNvPr id="71" name="Text 8"/>
          <p:cNvSpPr txBox="1"/>
          <p:nvPr/>
        </p:nvSpPr>
        <p:spPr>
          <a:xfrm>
            <a:off x="4837176" y="1989327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Safe pressure adjustment with undo &amp; confirmation step</a:t>
            </a:r>
          </a:p>
        </p:txBody>
      </p:sp>
      <p:sp>
        <p:nvSpPr>
          <p:cNvPr id="72" name="Shape 9"/>
          <p:cNvSpPr/>
          <p:nvPr/>
        </p:nvSpPr>
        <p:spPr>
          <a:xfrm>
            <a:off x="320040" y="2395727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10"/>
          <p:cNvSpPr txBox="1"/>
          <p:nvPr/>
        </p:nvSpPr>
        <p:spPr>
          <a:xfrm>
            <a:off x="429767" y="2442464"/>
            <a:ext cx="39319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🚨  Emergency Queue</a:t>
            </a:r>
          </a:p>
        </p:txBody>
      </p:sp>
      <p:sp>
        <p:nvSpPr>
          <p:cNvPr id="74" name="Text 11"/>
          <p:cNvSpPr txBox="1"/>
          <p:nvPr/>
        </p:nvSpPr>
        <p:spPr>
          <a:xfrm>
            <a:off x="429767" y="2812288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Priority-based restart queue — hospitals &amp; data centers first</a:t>
            </a:r>
          </a:p>
        </p:txBody>
      </p:sp>
      <p:sp>
        <p:nvSpPr>
          <p:cNvPr id="75" name="Shape 12"/>
          <p:cNvSpPr/>
          <p:nvPr/>
        </p:nvSpPr>
        <p:spPr>
          <a:xfrm>
            <a:off x="4727447" y="2395727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13"/>
          <p:cNvSpPr txBox="1"/>
          <p:nvPr/>
        </p:nvSpPr>
        <p:spPr>
          <a:xfrm>
            <a:off x="4837176" y="2442464"/>
            <a:ext cx="39319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🔍  Equipment ID Checker</a:t>
            </a:r>
          </a:p>
        </p:txBody>
      </p:sp>
      <p:sp>
        <p:nvSpPr>
          <p:cNvPr id="77" name="Text 14"/>
          <p:cNvSpPr txBox="1"/>
          <p:nvPr/>
        </p:nvSpPr>
        <p:spPr>
          <a:xfrm>
            <a:off x="4837176" y="2812288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Instant asset verification against Navi Mumbai registry</a:t>
            </a:r>
          </a:p>
        </p:txBody>
      </p:sp>
      <p:sp>
        <p:nvSpPr>
          <p:cNvPr id="78" name="Shape 15"/>
          <p:cNvSpPr/>
          <p:nvPr/>
        </p:nvSpPr>
        <p:spPr>
          <a:xfrm>
            <a:off x="320040" y="3218688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6"/>
          <p:cNvSpPr txBox="1"/>
          <p:nvPr/>
        </p:nvSpPr>
        <p:spPr>
          <a:xfrm>
            <a:off x="429767" y="3265423"/>
            <a:ext cx="39319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🌡️  Heat Load Sorter</a:t>
            </a:r>
          </a:p>
        </p:txBody>
      </p:sp>
      <p:sp>
        <p:nvSpPr>
          <p:cNvPr id="80" name="Text 17"/>
          <p:cNvSpPr txBox="1"/>
          <p:nvPr/>
        </p:nvSpPr>
        <p:spPr>
          <a:xfrm>
            <a:off x="429767" y="3635248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Color-coded thermal ranking of all pipe sections</a:t>
            </a:r>
          </a:p>
        </p:txBody>
      </p:sp>
      <p:sp>
        <p:nvSpPr>
          <p:cNvPr id="81" name="Shape 18"/>
          <p:cNvSpPr/>
          <p:nvPr/>
        </p:nvSpPr>
        <p:spPr>
          <a:xfrm>
            <a:off x="4727447" y="3218688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9"/>
          <p:cNvSpPr txBox="1"/>
          <p:nvPr/>
        </p:nvSpPr>
        <p:spPr>
          <a:xfrm>
            <a:off x="4837176" y="3265423"/>
            <a:ext cx="39319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🗺️  Pipe Map Hub</a:t>
            </a:r>
          </a:p>
        </p:txBody>
      </p:sp>
      <p:sp>
        <p:nvSpPr>
          <p:cNvPr id="83" name="Text 20"/>
          <p:cNvSpPr txBox="1"/>
          <p:nvPr/>
        </p:nvSpPr>
        <p:spPr>
          <a:xfrm>
            <a:off x="4837176" y="3635248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Interactive underground map with live route overlays</a:t>
            </a:r>
          </a:p>
        </p:txBody>
      </p:sp>
      <p:sp>
        <p:nvSpPr>
          <p:cNvPr id="84" name="Shape 21"/>
          <p:cNvSpPr/>
          <p:nvPr/>
        </p:nvSpPr>
        <p:spPr>
          <a:xfrm>
            <a:off x="320040" y="4041647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2"/>
          <p:cNvSpPr txBox="1"/>
          <p:nvPr/>
        </p:nvSpPr>
        <p:spPr>
          <a:xfrm>
            <a:off x="429767" y="4088383"/>
            <a:ext cx="39319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⚡  Efficient Flow Planner</a:t>
            </a:r>
          </a:p>
        </p:txBody>
      </p:sp>
      <p:sp>
        <p:nvSpPr>
          <p:cNvPr id="86" name="Text 23"/>
          <p:cNvSpPr txBox="1"/>
          <p:nvPr/>
        </p:nvSpPr>
        <p:spPr>
          <a:xfrm>
            <a:off x="429767" y="4458208"/>
            <a:ext cx="3931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Dijkstra pathfinder for least pump-energy routing</a:t>
            </a:r>
          </a:p>
        </p:txBody>
      </p:sp>
      <p:sp>
        <p:nvSpPr>
          <p:cNvPr id="87" name="Shape 24"/>
          <p:cNvSpPr/>
          <p:nvPr/>
        </p:nvSpPr>
        <p:spPr>
          <a:xfrm>
            <a:off x="4727447" y="4041647"/>
            <a:ext cx="4160521" cy="713233"/>
          </a:xfrm>
          <a:prstGeom prst="roundRect">
            <a:avLst>
              <a:gd name="adj" fmla="val 10256"/>
            </a:avLst>
          </a:prstGeom>
          <a:solidFill>
            <a:srgbClr val="9E2A4A">
              <a:alpha val="80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25"/>
          <p:cNvSpPr txBox="1"/>
          <p:nvPr/>
        </p:nvSpPr>
        <p:spPr>
          <a:xfrm>
            <a:off x="4837176" y="4088383"/>
            <a:ext cx="39319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🌀  Fan Power Balancer</a:t>
            </a:r>
          </a:p>
        </p:txBody>
      </p:sp>
      <p:sp>
        <p:nvSpPr>
          <p:cNvPr id="89" name="Text 26"/>
          <p:cNvSpPr txBox="1"/>
          <p:nvPr/>
        </p:nvSpPr>
        <p:spPr>
          <a:xfrm>
            <a:off x="4837176" y="4458208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4C2CF"/>
                </a:solidFill>
              </a:defRPr>
            </a:lvl1pPr>
          </a:lstStyle>
          <a:p>
            <a:pPr/>
            <a:r>
              <a:t>Smart load redistribution across all cooling tower fans</a:t>
            </a:r>
          </a:p>
        </p:txBody>
      </p:sp>
      <p:sp>
        <p:nvSpPr>
          <p:cNvPr id="90" name="Text 27"/>
          <p:cNvSpPr txBox="1"/>
          <p:nvPr/>
        </p:nvSpPr>
        <p:spPr>
          <a:xfrm>
            <a:off x="457200" y="4965699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F4C2CF"/>
                </a:solidFill>
              </a:defRPr>
            </a:lvl1pPr>
          </a:lstStyle>
          <a:p>
            <a:pPr/>
            <a:r>
              <a:t>ChillerLoop  ·  Case Study #46  ·  React JS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D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1C3E"/>
          </a:solidFill>
          <a:ln w="12700">
            <a:solidFill>
              <a:srgbClr val="7B1C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"/>
          <p:cNvSpPr txBox="1"/>
          <p:nvPr/>
        </p:nvSpPr>
        <p:spPr>
          <a:xfrm>
            <a:off x="365759" y="245109"/>
            <a:ext cx="841248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⚙️  How It Works — Method &amp; Architecture</a:t>
            </a:r>
          </a:p>
        </p:txBody>
      </p:sp>
      <p:sp>
        <p:nvSpPr>
          <p:cNvPr id="94" name="Shape 2"/>
          <p:cNvSpPr/>
          <p:nvPr/>
        </p:nvSpPr>
        <p:spPr>
          <a:xfrm>
            <a:off x="320040" y="1097280"/>
            <a:ext cx="2651761" cy="352044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F4C2CF"/>
            </a:solidFill>
          </a:ln>
          <a:effectLst>
            <a:outerShdw sx="100000" sy="100000" kx="0" ky="0" algn="b" rotWithShape="0" blurRad="101600" dist="381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5" name="Shape 3"/>
          <p:cNvSpPr/>
          <p:nvPr/>
        </p:nvSpPr>
        <p:spPr>
          <a:xfrm>
            <a:off x="320040" y="1097280"/>
            <a:ext cx="2651761" cy="594361"/>
          </a:xfrm>
          <a:prstGeom prst="roundRect">
            <a:avLst>
              <a:gd name="adj" fmla="val 18462"/>
            </a:avLst>
          </a:prstGeom>
          <a:solidFill>
            <a:srgbClr val="7B1C3E"/>
          </a:solidFill>
          <a:ln w="12700">
            <a:solidFill>
              <a:srgbClr val="7B1C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4"/>
          <p:cNvSpPr txBox="1"/>
          <p:nvPr/>
        </p:nvSpPr>
        <p:spPr>
          <a:xfrm>
            <a:off x="411479" y="1286509"/>
            <a:ext cx="24688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🖥️  UI Layer — React 18 + Vite 5</a:t>
            </a:r>
          </a:p>
        </p:txBody>
      </p:sp>
      <p:sp>
        <p:nvSpPr>
          <p:cNvPr id="97" name="Shape 5"/>
          <p:cNvSpPr/>
          <p:nvPr/>
        </p:nvSpPr>
        <p:spPr>
          <a:xfrm>
            <a:off x="466344" y="1810511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6"/>
          <p:cNvSpPr txBox="1"/>
          <p:nvPr/>
        </p:nvSpPr>
        <p:spPr>
          <a:xfrm>
            <a:off x="630936" y="1979720"/>
            <a:ext cx="2240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Topbar (location · dark/light theme toggle)</a:t>
            </a:r>
          </a:p>
        </p:txBody>
      </p:sp>
      <p:sp>
        <p:nvSpPr>
          <p:cNvPr id="99" name="Shape 7"/>
          <p:cNvSpPr/>
          <p:nvPr/>
        </p:nvSpPr>
        <p:spPr>
          <a:xfrm>
            <a:off x="466344" y="2487167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8"/>
          <p:cNvSpPr txBox="1"/>
          <p:nvPr/>
        </p:nvSpPr>
        <p:spPr>
          <a:xfrm>
            <a:off x="630936" y="2573826"/>
            <a:ext cx="2240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Sidebar navigation with open/close animation</a:t>
            </a:r>
          </a:p>
        </p:txBody>
      </p:sp>
      <p:sp>
        <p:nvSpPr>
          <p:cNvPr id="101" name="Shape 9"/>
          <p:cNvSpPr/>
          <p:nvPr/>
        </p:nvSpPr>
        <p:spPr>
          <a:xfrm>
            <a:off x="466344" y="3163823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0"/>
          <p:cNvSpPr txBox="1"/>
          <p:nvPr/>
        </p:nvSpPr>
        <p:spPr>
          <a:xfrm>
            <a:off x="630936" y="3250482"/>
            <a:ext cx="2240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8 feature component views + Dashboard overview</a:t>
            </a:r>
          </a:p>
        </p:txBody>
      </p:sp>
      <p:sp>
        <p:nvSpPr>
          <p:cNvPr id="103" name="Shape 11"/>
          <p:cNvSpPr/>
          <p:nvPr/>
        </p:nvSpPr>
        <p:spPr>
          <a:xfrm>
            <a:off x="466344" y="3840479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12"/>
          <p:cNvSpPr txBox="1"/>
          <p:nvPr/>
        </p:nvSpPr>
        <p:spPr>
          <a:xfrm>
            <a:off x="630936" y="3900423"/>
            <a:ext cx="224028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Light &amp; dark themes · Multilingual (EN / हिंदी / मराठी)</a:t>
            </a:r>
          </a:p>
        </p:txBody>
      </p:sp>
      <p:sp>
        <p:nvSpPr>
          <p:cNvPr id="105" name="Shape 13"/>
          <p:cNvSpPr/>
          <p:nvPr/>
        </p:nvSpPr>
        <p:spPr>
          <a:xfrm>
            <a:off x="2971800" y="2862072"/>
            <a:ext cx="182881" cy="1"/>
          </a:xfrm>
          <a:prstGeom prst="line">
            <a:avLst/>
          </a:prstGeom>
          <a:ln w="254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14"/>
          <p:cNvSpPr txBox="1"/>
          <p:nvPr/>
        </p:nvSpPr>
        <p:spPr>
          <a:xfrm>
            <a:off x="3099816" y="2741248"/>
            <a:ext cx="18288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C85F7A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7" name="Shape 15"/>
          <p:cNvSpPr/>
          <p:nvPr/>
        </p:nvSpPr>
        <p:spPr>
          <a:xfrm>
            <a:off x="3154679" y="1097280"/>
            <a:ext cx="2651761" cy="352044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F4C2CF"/>
            </a:solidFill>
          </a:ln>
          <a:effectLst>
            <a:outerShdw sx="100000" sy="100000" kx="0" ky="0" algn="b" rotWithShape="0" blurRad="101600" dist="381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Shape 16"/>
          <p:cNvSpPr/>
          <p:nvPr/>
        </p:nvSpPr>
        <p:spPr>
          <a:xfrm>
            <a:off x="3154679" y="1097280"/>
            <a:ext cx="2651761" cy="594361"/>
          </a:xfrm>
          <a:prstGeom prst="roundRect">
            <a:avLst>
              <a:gd name="adj" fmla="val 18462"/>
            </a:avLst>
          </a:prstGeom>
          <a:solidFill>
            <a:srgbClr val="7B1C3E"/>
          </a:solidFill>
          <a:ln w="12700">
            <a:solidFill>
              <a:srgbClr val="7B1C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17"/>
          <p:cNvSpPr txBox="1"/>
          <p:nvPr/>
        </p:nvSpPr>
        <p:spPr>
          <a:xfrm>
            <a:off x="3246120" y="1286509"/>
            <a:ext cx="24688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🔄  State Layer — AppContext.jsx</a:t>
            </a:r>
          </a:p>
        </p:txBody>
      </p:sp>
      <p:sp>
        <p:nvSpPr>
          <p:cNvPr id="110" name="Shape 18"/>
          <p:cNvSpPr/>
          <p:nvPr/>
        </p:nvSpPr>
        <p:spPr>
          <a:xfrm>
            <a:off x="3300984" y="1810511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9"/>
          <p:cNvSpPr txBox="1"/>
          <p:nvPr/>
        </p:nvSpPr>
        <p:spPr>
          <a:xfrm>
            <a:off x="3465576" y="1979720"/>
            <a:ext cx="22402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Global state: theme, active module, alerts</a:t>
            </a:r>
          </a:p>
        </p:txBody>
      </p:sp>
      <p:sp>
        <p:nvSpPr>
          <p:cNvPr id="112" name="Shape 20"/>
          <p:cNvSpPr/>
          <p:nvPr/>
        </p:nvSpPr>
        <p:spPr>
          <a:xfrm>
            <a:off x="3300984" y="2487167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21"/>
          <p:cNvSpPr txBox="1"/>
          <p:nvPr/>
        </p:nvSpPr>
        <p:spPr>
          <a:xfrm>
            <a:off x="3465576" y="2573826"/>
            <a:ext cx="2240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React Context API — no external state library</a:t>
            </a:r>
          </a:p>
        </p:txBody>
      </p:sp>
      <p:sp>
        <p:nvSpPr>
          <p:cNvPr id="114" name="Shape 22"/>
          <p:cNvSpPr/>
          <p:nvPr/>
        </p:nvSpPr>
        <p:spPr>
          <a:xfrm>
            <a:off x="3300984" y="3163823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23"/>
          <p:cNvSpPr txBox="1"/>
          <p:nvPr/>
        </p:nvSpPr>
        <p:spPr>
          <a:xfrm>
            <a:off x="3465576" y="3250482"/>
            <a:ext cx="2240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Real-time sensor updates via setInterval hooks</a:t>
            </a:r>
          </a:p>
        </p:txBody>
      </p:sp>
      <p:sp>
        <p:nvSpPr>
          <p:cNvPr id="116" name="Shape 24"/>
          <p:cNvSpPr/>
          <p:nvPr/>
        </p:nvSpPr>
        <p:spPr>
          <a:xfrm>
            <a:off x="3300984" y="3840479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25"/>
          <p:cNvSpPr txBox="1"/>
          <p:nvPr/>
        </p:nvSpPr>
        <p:spPr>
          <a:xfrm>
            <a:off x="3465576" y="3927138"/>
            <a:ext cx="224028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All data sourced from naviMumbaiData.js (mock)</a:t>
            </a:r>
          </a:p>
        </p:txBody>
      </p:sp>
      <p:sp>
        <p:nvSpPr>
          <p:cNvPr id="118" name="Shape 26"/>
          <p:cNvSpPr/>
          <p:nvPr/>
        </p:nvSpPr>
        <p:spPr>
          <a:xfrm>
            <a:off x="5806440" y="2862072"/>
            <a:ext cx="182881" cy="1"/>
          </a:xfrm>
          <a:prstGeom prst="line">
            <a:avLst/>
          </a:prstGeom>
          <a:ln w="254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27"/>
          <p:cNvSpPr txBox="1"/>
          <p:nvPr/>
        </p:nvSpPr>
        <p:spPr>
          <a:xfrm>
            <a:off x="5934455" y="2741248"/>
            <a:ext cx="18288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C85F7A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20" name="Shape 28"/>
          <p:cNvSpPr/>
          <p:nvPr/>
        </p:nvSpPr>
        <p:spPr>
          <a:xfrm>
            <a:off x="5989320" y="1097280"/>
            <a:ext cx="2651761" cy="352044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240">
            <a:solidFill>
              <a:srgbClr val="F4C2CF"/>
            </a:solidFill>
          </a:ln>
          <a:effectLst>
            <a:outerShdw sx="100000" sy="100000" kx="0" ky="0" algn="b" rotWithShape="0" blurRad="101600" dist="381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Shape 29"/>
          <p:cNvSpPr/>
          <p:nvPr/>
        </p:nvSpPr>
        <p:spPr>
          <a:xfrm>
            <a:off x="5989320" y="1097280"/>
            <a:ext cx="2651761" cy="594361"/>
          </a:xfrm>
          <a:prstGeom prst="roundRect">
            <a:avLst>
              <a:gd name="adj" fmla="val 18462"/>
            </a:avLst>
          </a:prstGeom>
          <a:solidFill>
            <a:srgbClr val="7B1C3E"/>
          </a:solidFill>
          <a:ln w="12700">
            <a:solidFill>
              <a:srgbClr val="7B1C3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30"/>
          <p:cNvSpPr txBox="1"/>
          <p:nvPr/>
        </p:nvSpPr>
        <p:spPr>
          <a:xfrm>
            <a:off x="6080759" y="1286509"/>
            <a:ext cx="24688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📊  Data Layer — naviMumbaiData.js</a:t>
            </a:r>
          </a:p>
        </p:txBody>
      </p:sp>
      <p:sp>
        <p:nvSpPr>
          <p:cNvPr id="123" name="Shape 31"/>
          <p:cNvSpPr/>
          <p:nvPr/>
        </p:nvSpPr>
        <p:spPr>
          <a:xfrm>
            <a:off x="6135623" y="1810511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32"/>
          <p:cNvSpPr txBox="1"/>
          <p:nvPr/>
        </p:nvSpPr>
        <p:spPr>
          <a:xfrm>
            <a:off x="6300215" y="1979720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18 pipe nodes · 8 zones · 6 chillers</a:t>
            </a:r>
          </a:p>
        </p:txBody>
      </p:sp>
      <p:sp>
        <p:nvSpPr>
          <p:cNvPr id="125" name="Shape 33"/>
          <p:cNvSpPr/>
          <p:nvPr/>
        </p:nvSpPr>
        <p:spPr>
          <a:xfrm>
            <a:off x="6135623" y="2487167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34"/>
          <p:cNvSpPr txBox="1"/>
          <p:nvPr/>
        </p:nvSpPr>
        <p:spPr>
          <a:xfrm>
            <a:off x="6300215" y="2656376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Navi Mumbai real geographic coordinates</a:t>
            </a:r>
          </a:p>
        </p:txBody>
      </p:sp>
      <p:sp>
        <p:nvSpPr>
          <p:cNvPr id="127" name="Shape 35"/>
          <p:cNvSpPr/>
          <p:nvPr/>
        </p:nvSpPr>
        <p:spPr>
          <a:xfrm>
            <a:off x="6135623" y="3163823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36"/>
          <p:cNvSpPr txBox="1"/>
          <p:nvPr/>
        </p:nvSpPr>
        <p:spPr>
          <a:xfrm>
            <a:off x="6300215" y="3250482"/>
            <a:ext cx="224028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Dijkstra graph for flow optimization (feature g)</a:t>
            </a:r>
          </a:p>
        </p:txBody>
      </p:sp>
      <p:sp>
        <p:nvSpPr>
          <p:cNvPr id="129" name="Shape 37"/>
          <p:cNvSpPr/>
          <p:nvPr/>
        </p:nvSpPr>
        <p:spPr>
          <a:xfrm>
            <a:off x="6135623" y="3840479"/>
            <a:ext cx="109729" cy="109729"/>
          </a:xfrm>
          <a:prstGeom prst="ellipse">
            <a:avLst/>
          </a:prstGeom>
          <a:solidFill>
            <a:srgbClr val="C85F7A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38"/>
          <p:cNvSpPr txBox="1"/>
          <p:nvPr/>
        </p:nvSpPr>
        <p:spPr>
          <a:xfrm>
            <a:off x="6300215" y="3927138"/>
            <a:ext cx="224028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2D0A17"/>
                </a:solidFill>
              </a:defRPr>
            </a:lvl1pPr>
          </a:lstStyle>
          <a:p>
            <a:pPr/>
            <a:r>
              <a:t>Mock sensor values reflecting real UGCS ranges</a:t>
            </a:r>
          </a:p>
        </p:txBody>
      </p:sp>
      <p:sp>
        <p:nvSpPr>
          <p:cNvPr id="131" name="Shape 39"/>
          <p:cNvSpPr/>
          <p:nvPr/>
        </p:nvSpPr>
        <p:spPr>
          <a:xfrm>
            <a:off x="320040" y="4645152"/>
            <a:ext cx="1325881" cy="320041"/>
          </a:xfrm>
          <a:prstGeom prst="roundRect">
            <a:avLst>
              <a:gd name="adj" fmla="val 48571"/>
            </a:avLst>
          </a:prstGeom>
          <a:solidFill>
            <a:srgbClr val="F4C2CF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40"/>
          <p:cNvSpPr txBox="1"/>
          <p:nvPr/>
        </p:nvSpPr>
        <p:spPr>
          <a:xfrm>
            <a:off x="320040" y="4741672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7B1C3E"/>
                </a:solidFill>
              </a:defRPr>
            </a:lvl1pPr>
          </a:lstStyle>
          <a:p>
            <a:pPr/>
            <a:r>
              <a:t>React 18</a:t>
            </a:r>
          </a:p>
        </p:txBody>
      </p:sp>
      <p:sp>
        <p:nvSpPr>
          <p:cNvPr id="133" name="Shape 41"/>
          <p:cNvSpPr/>
          <p:nvPr/>
        </p:nvSpPr>
        <p:spPr>
          <a:xfrm>
            <a:off x="1746504" y="4645152"/>
            <a:ext cx="1325881" cy="320041"/>
          </a:xfrm>
          <a:prstGeom prst="roundRect">
            <a:avLst>
              <a:gd name="adj" fmla="val 48571"/>
            </a:avLst>
          </a:prstGeom>
          <a:solidFill>
            <a:srgbClr val="F4C2CF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42"/>
          <p:cNvSpPr txBox="1"/>
          <p:nvPr/>
        </p:nvSpPr>
        <p:spPr>
          <a:xfrm>
            <a:off x="1746504" y="4741672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7B1C3E"/>
                </a:solidFill>
              </a:defRPr>
            </a:lvl1pPr>
          </a:lstStyle>
          <a:p>
            <a:pPr/>
            <a:r>
              <a:t>Vite 5</a:t>
            </a:r>
          </a:p>
        </p:txBody>
      </p:sp>
      <p:sp>
        <p:nvSpPr>
          <p:cNvPr id="135" name="Shape 43"/>
          <p:cNvSpPr/>
          <p:nvPr/>
        </p:nvSpPr>
        <p:spPr>
          <a:xfrm>
            <a:off x="3172967" y="4645152"/>
            <a:ext cx="1325881" cy="320041"/>
          </a:xfrm>
          <a:prstGeom prst="roundRect">
            <a:avLst>
              <a:gd name="adj" fmla="val 48571"/>
            </a:avLst>
          </a:prstGeom>
          <a:solidFill>
            <a:srgbClr val="F4C2CF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44"/>
          <p:cNvSpPr txBox="1"/>
          <p:nvPr/>
        </p:nvSpPr>
        <p:spPr>
          <a:xfrm>
            <a:off x="3172967" y="4741672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7B1C3E"/>
                </a:solidFill>
              </a:defRPr>
            </a:lvl1pPr>
          </a:lstStyle>
          <a:p>
            <a:pPr/>
            <a:r>
              <a:t>Tailwind CSS</a:t>
            </a:r>
          </a:p>
        </p:txBody>
      </p:sp>
      <p:sp>
        <p:nvSpPr>
          <p:cNvPr id="137" name="Shape 45"/>
          <p:cNvSpPr/>
          <p:nvPr/>
        </p:nvSpPr>
        <p:spPr>
          <a:xfrm>
            <a:off x="4599432" y="4645152"/>
            <a:ext cx="1325881" cy="320041"/>
          </a:xfrm>
          <a:prstGeom prst="roundRect">
            <a:avLst>
              <a:gd name="adj" fmla="val 48571"/>
            </a:avLst>
          </a:prstGeom>
          <a:solidFill>
            <a:srgbClr val="F4C2CF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46"/>
          <p:cNvSpPr txBox="1"/>
          <p:nvPr/>
        </p:nvSpPr>
        <p:spPr>
          <a:xfrm>
            <a:off x="4599432" y="4741672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7B1C3E"/>
                </a:solidFill>
              </a:defRPr>
            </a:lvl1pPr>
          </a:lstStyle>
          <a:p>
            <a:pPr/>
            <a:r>
              <a:t>React Router v6</a:t>
            </a:r>
          </a:p>
        </p:txBody>
      </p:sp>
      <p:sp>
        <p:nvSpPr>
          <p:cNvPr id="139" name="Shape 47"/>
          <p:cNvSpPr/>
          <p:nvPr/>
        </p:nvSpPr>
        <p:spPr>
          <a:xfrm>
            <a:off x="6025896" y="4645152"/>
            <a:ext cx="1325881" cy="320041"/>
          </a:xfrm>
          <a:prstGeom prst="roundRect">
            <a:avLst>
              <a:gd name="adj" fmla="val 48571"/>
            </a:avLst>
          </a:prstGeom>
          <a:solidFill>
            <a:srgbClr val="F4C2CF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48"/>
          <p:cNvSpPr txBox="1"/>
          <p:nvPr/>
        </p:nvSpPr>
        <p:spPr>
          <a:xfrm>
            <a:off x="6025896" y="4741672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7B1C3E"/>
                </a:solidFill>
              </a:defRPr>
            </a:lvl1pPr>
          </a:lstStyle>
          <a:p>
            <a:pPr/>
            <a:r>
              <a:t>Lucide Icons</a:t>
            </a:r>
          </a:p>
        </p:txBody>
      </p:sp>
      <p:sp>
        <p:nvSpPr>
          <p:cNvPr id="141" name="Shape 49"/>
          <p:cNvSpPr/>
          <p:nvPr/>
        </p:nvSpPr>
        <p:spPr>
          <a:xfrm>
            <a:off x="7452359" y="4645152"/>
            <a:ext cx="1325881" cy="320041"/>
          </a:xfrm>
          <a:prstGeom prst="roundRect">
            <a:avLst>
              <a:gd name="adj" fmla="val 48571"/>
            </a:avLst>
          </a:prstGeom>
          <a:solidFill>
            <a:srgbClr val="F4C2CF"/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50"/>
          <p:cNvSpPr txBox="1"/>
          <p:nvPr/>
        </p:nvSpPr>
        <p:spPr>
          <a:xfrm>
            <a:off x="7452359" y="4741672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7B1C3E"/>
                </a:solidFill>
              </a:defRPr>
            </a:lvl1pPr>
          </a:lstStyle>
          <a:p>
            <a:pPr/>
            <a:r>
              <a:t>Context API</a:t>
            </a:r>
          </a:p>
        </p:txBody>
      </p:sp>
      <p:sp>
        <p:nvSpPr>
          <p:cNvPr id="143" name="Shape 51"/>
          <p:cNvSpPr/>
          <p:nvPr/>
        </p:nvSpPr>
        <p:spPr>
          <a:xfrm>
            <a:off x="457200" y="4998211"/>
            <a:ext cx="8229600" cy="1"/>
          </a:xfrm>
          <a:prstGeom prst="line">
            <a:avLst/>
          </a:prstGeom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52"/>
          <p:cNvSpPr txBox="1"/>
          <p:nvPr/>
        </p:nvSpPr>
        <p:spPr>
          <a:xfrm>
            <a:off x="457200" y="5024881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A1F32"/>
                </a:solidFill>
              </a:defRPr>
            </a:lvl1pPr>
          </a:lstStyle>
          <a:p>
            <a:pPr/>
            <a:r>
              <a:t>ChillerLoop  ·  Case Study #46  ·  React JS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7B1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 txBox="1"/>
          <p:nvPr/>
        </p:nvSpPr>
        <p:spPr>
          <a:xfrm>
            <a:off x="365759" y="221741"/>
            <a:ext cx="8412482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🏁  Conclusion</a:t>
            </a:r>
          </a:p>
        </p:txBody>
      </p:sp>
      <p:sp>
        <p:nvSpPr>
          <p:cNvPr id="147" name="Shape 1"/>
          <p:cNvSpPr/>
          <p:nvPr/>
        </p:nvSpPr>
        <p:spPr>
          <a:xfrm>
            <a:off x="365759" y="841247"/>
            <a:ext cx="8412482" cy="1"/>
          </a:xfrm>
          <a:prstGeom prst="line">
            <a:avLst/>
          </a:prstGeom>
          <a:ln w="1905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2"/>
          <p:cNvSpPr txBox="1"/>
          <p:nvPr/>
        </p:nvSpPr>
        <p:spPr>
          <a:xfrm>
            <a:off x="502919" y="1085019"/>
            <a:ext cx="8138161" cy="664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4C2CF"/>
                </a:solidFill>
              </a:defRPr>
            </a:lvl1pPr>
          </a:lstStyle>
          <a:p>
            <a:pPr/>
            <a:r>
              <a:t>ChillerLoop successfully addresses the real-world challenge of monitoring city-scale underground cooling infrastructure. Built entirely in React with no backend dependencies, the app delivers all 8 required features through a clean, intuitive interface designed for field technicians and system operators.</a:t>
            </a:r>
          </a:p>
        </p:txBody>
      </p:sp>
      <p:sp>
        <p:nvSpPr>
          <p:cNvPr id="149" name="Shape 3"/>
          <p:cNvSpPr/>
          <p:nvPr/>
        </p:nvSpPr>
        <p:spPr>
          <a:xfrm>
            <a:off x="365759" y="1965960"/>
            <a:ext cx="8412482" cy="868681"/>
          </a:xfrm>
          <a:prstGeom prst="roundRect">
            <a:avLst>
              <a:gd name="adj" fmla="val 10526"/>
            </a:avLst>
          </a:prstGeom>
          <a:solidFill>
            <a:srgbClr val="9E2A4A">
              <a:alpha val="75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4"/>
          <p:cNvSpPr txBox="1"/>
          <p:nvPr/>
        </p:nvSpPr>
        <p:spPr>
          <a:xfrm>
            <a:off x="530351" y="2024633"/>
            <a:ext cx="8229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🎯 Technical Achievement</a:t>
            </a:r>
          </a:p>
        </p:txBody>
      </p:sp>
      <p:sp>
        <p:nvSpPr>
          <p:cNvPr id="151" name="Text 5"/>
          <p:cNvSpPr txBox="1"/>
          <p:nvPr/>
        </p:nvSpPr>
        <p:spPr>
          <a:xfrm>
            <a:off x="530351" y="2381802"/>
            <a:ext cx="822960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4C2CF"/>
                </a:solidFill>
              </a:defRPr>
            </a:lvl1pPr>
          </a:lstStyle>
          <a:p>
            <a:pPr/>
            <a:r>
              <a:t>All 8 features implemented &amp; functional. Dijkstra pathfinding, real-time simulated sensors, emergency priority queue — all running on pure React state with zero API keys needed.</a:t>
            </a:r>
          </a:p>
        </p:txBody>
      </p:sp>
      <p:sp>
        <p:nvSpPr>
          <p:cNvPr id="152" name="Shape 6"/>
          <p:cNvSpPr/>
          <p:nvPr/>
        </p:nvSpPr>
        <p:spPr>
          <a:xfrm>
            <a:off x="365759" y="2926079"/>
            <a:ext cx="8412482" cy="868681"/>
          </a:xfrm>
          <a:prstGeom prst="roundRect">
            <a:avLst>
              <a:gd name="adj" fmla="val 10526"/>
            </a:avLst>
          </a:prstGeom>
          <a:solidFill>
            <a:srgbClr val="9E2A4A">
              <a:alpha val="75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7"/>
          <p:cNvSpPr txBox="1"/>
          <p:nvPr/>
        </p:nvSpPr>
        <p:spPr>
          <a:xfrm>
            <a:off x="530351" y="2984754"/>
            <a:ext cx="8229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🏙️ Real-World Relevance</a:t>
            </a:r>
          </a:p>
        </p:txBody>
      </p:sp>
      <p:sp>
        <p:nvSpPr>
          <p:cNvPr id="154" name="Text 8"/>
          <p:cNvSpPr txBox="1"/>
          <p:nvPr/>
        </p:nvSpPr>
        <p:spPr>
          <a:xfrm>
            <a:off x="530351" y="3341922"/>
            <a:ext cx="82296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4C2CF"/>
                </a:solidFill>
              </a:defRPr>
            </a:lvl1pPr>
          </a:lstStyle>
          <a:p>
            <a:pPr/>
            <a:r>
              <a:t>Data modelled on Navi Mumbai's actual geography — 8 zones, 18.9 km of network, 6 chillers, 21 MW capacity. Multilingual support in English, Hindi &amp; Marathi reflects the local community.</a:t>
            </a:r>
          </a:p>
        </p:txBody>
      </p:sp>
      <p:sp>
        <p:nvSpPr>
          <p:cNvPr id="155" name="Shape 9"/>
          <p:cNvSpPr/>
          <p:nvPr/>
        </p:nvSpPr>
        <p:spPr>
          <a:xfrm>
            <a:off x="365759" y="3886200"/>
            <a:ext cx="8412482" cy="868681"/>
          </a:xfrm>
          <a:prstGeom prst="roundRect">
            <a:avLst>
              <a:gd name="adj" fmla="val 10526"/>
            </a:avLst>
          </a:prstGeom>
          <a:solidFill>
            <a:srgbClr val="9E2A4A">
              <a:alpha val="75000"/>
            </a:srgbClr>
          </a:solidFill>
          <a:ln w="12700">
            <a:solidFill>
              <a:srgbClr val="C85F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10"/>
          <p:cNvSpPr txBox="1"/>
          <p:nvPr/>
        </p:nvSpPr>
        <p:spPr>
          <a:xfrm>
            <a:off x="530351" y="3944873"/>
            <a:ext cx="8229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💡 Personal Learning</a:t>
            </a:r>
          </a:p>
        </p:txBody>
      </p:sp>
      <p:sp>
        <p:nvSpPr>
          <p:cNvPr id="157" name="Text 11"/>
          <p:cNvSpPr txBox="1"/>
          <p:nvPr/>
        </p:nvSpPr>
        <p:spPr>
          <a:xfrm>
            <a:off x="530351" y="4302042"/>
            <a:ext cx="822960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4C2CF"/>
                </a:solidFill>
              </a:defRPr>
            </a:lvl1pPr>
          </a:lstStyle>
          <a:p>
            <a:pPr/>
            <a:r>
              <a:t>"I am Akhila, a First Year B.Tech CSE student. I got this problem statement and wanted to make the best of it — so ChillerLoop was built to solve this case study effectively." — Akhila Anish Das</a:t>
            </a:r>
          </a:p>
        </p:txBody>
      </p:sp>
      <p:sp>
        <p:nvSpPr>
          <p:cNvPr id="158" name="Text 12"/>
          <p:cNvSpPr txBox="1"/>
          <p:nvPr/>
        </p:nvSpPr>
        <p:spPr>
          <a:xfrm>
            <a:off x="457200" y="4821681"/>
            <a:ext cx="54864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4C2CF"/>
                </a:solidFill>
              </a:defRPr>
            </a:lvl1pPr>
          </a:lstStyle>
          <a:p>
            <a:pPr/>
            <a:r>
              <a:t>🔗 GitHub: https://github.com/AkhilaAnishDas/chillerloop.git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